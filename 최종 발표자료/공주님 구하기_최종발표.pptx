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notesMasterIdLst>
    <p:notesMasterId r:id="rId2"/>
  </p:notesMasterIdLst>
  <p:sldIdLst>
    <p:sldId id="256" r:id="rId3"/>
    <p:sldId id="261" r:id="rId4"/>
    <p:sldId id="26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browse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9661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95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36487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4776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914399" y="3959239"/>
            <a:ext cx="10363199" cy="1470025"/>
          </a:xfrm>
        </p:spPr>
        <p:txBody>
          <a:bodyPr/>
          <a:lstStyle>
            <a:lvl1pPr algn="l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914399" y="5470527"/>
            <a:ext cx="10377714" cy="542932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572FC9A-F08A-40D2-A553-C964E737DACF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47530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E75AFC5B-087B-44FE-989E-1596680C7163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58220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9742031-F2F4-4E94-B5F8-210DA61C629A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6843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9" cy="1362075"/>
          </a:xfrm>
        </p:spPr>
        <p:txBody>
          <a:bodyPr anchor="t"/>
          <a:lstStyle>
            <a:lvl1pPr algn="r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963083" y="3853543"/>
            <a:ext cx="10363199" cy="553357"/>
          </a:xfrm>
        </p:spPr>
        <p:txBody>
          <a:bodyPr anchor="b"/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6039415-73A3-48E6-9B63-B10990BA1D50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3167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sz="quarter" idx="13"/>
          </p:nvPr>
        </p:nvSpPr>
        <p:spPr>
          <a:xfrm>
            <a:off x="609599" y="1285875"/>
            <a:ext cx="5384799" cy="49291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4"/>
          </p:nvPr>
        </p:nvSpPr>
        <p:spPr>
          <a:xfrm>
            <a:off x="6197599" y="1285875"/>
            <a:ext cx="5384799" cy="492918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385CBBDB-DD8F-472D-BEFC-C44A4FE5D39A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3837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D0E901A-5BCE-44B8-B860-454417D09A1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44994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643063"/>
            <a:ext cx="10972799" cy="4525200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F55EB35E-DFE6-4780-9AEC-CE8E9FFE6699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559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sz="quarter" idx="13"/>
          </p:nvPr>
        </p:nvSpPr>
        <p:spPr>
          <a:xfrm>
            <a:off x="609599" y="1285860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3" name=""/>
          <p:cNvSpPr>
            <a:spLocks noGrp="1"/>
          </p:cNvSpPr>
          <p:nvPr>
            <p:ph sz="quarter" idx="14"/>
          </p:nvPr>
        </p:nvSpPr>
        <p:spPr>
          <a:xfrm>
            <a:off x="6241142" y="1285860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sz="quarter" idx="15"/>
          </p:nvPr>
        </p:nvSpPr>
        <p:spPr>
          <a:xfrm>
            <a:off x="609599" y="3829734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sz="quarter" idx="16"/>
          </p:nvPr>
        </p:nvSpPr>
        <p:spPr>
          <a:xfrm>
            <a:off x="6241142" y="3829734"/>
            <a:ext cx="5341257" cy="2398259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3A9AF94D-3D9E-4B98-9B14-7443FDEB0C8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378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389717" y="4800600"/>
            <a:ext cx="7315199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2389717" y="612775"/>
            <a:ext cx="7315199" cy="4114800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199" cy="804862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D2A8C51-5F59-4292-8134-3DE1FFFD33BB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52241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609599" y="2632092"/>
            <a:ext cx="10972799" cy="1154098"/>
          </a:xfrm>
        </p:spPr>
        <p:txBody>
          <a:bodyPr/>
          <a:lstStyle>
            <a:lvl1pPr algn="ctr">
              <a:defRPr sz="5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B69A4AFF-EEC0-4395-BBA4-418651BA32BC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66936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123991" y="1285860"/>
            <a:ext cx="9258287" cy="863498"/>
          </a:xfrm>
        </p:spPr>
        <p:txBody>
          <a:bodyPr/>
          <a:lstStyle>
            <a:lvl1pPr>
              <a:defRPr sz="44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body" sz="quarter" idx="14"/>
          </p:nvPr>
        </p:nvSpPr>
        <p:spPr>
          <a:xfrm>
            <a:off x="1098282" y="2357438"/>
            <a:ext cx="7583999" cy="312840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7A7E38C-89A5-47DE-ADB5-CE73DE4FAD75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03484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25023" y="274638"/>
            <a:ext cx="2057375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629671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709772C0-CC7C-4112-8CC7-54EF9E00CBD9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45585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09599" y="1264596"/>
            <a:ext cx="10972799" cy="486156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 rtl="0" eaLnBrk="1" latinLnBrk="1" hangingPunct="1">
              <a:defRPr lang="ko-KR" alt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 lang="ko-KR" altLang="en-US"/>
            </a:pPr>
            <a:fld id="{7C5EE21D-1348-4462-AB7D-141570684188}" type="datetime1">
              <a:rPr lang="ko-KR" altLang="en-US"/>
              <a:pPr lvl="0">
                <a:defRPr lang="ko-KR" altLang="en-US"/>
              </a:pPr>
              <a:t>2025-10-01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8708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600" kern="1200" dirty="0">
          <a:solidFill>
            <a:schemeClr val="bg2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1" hangingPunct="1">
        <a:spcBef>
          <a:spcPct val="20000"/>
        </a:spcBef>
        <a:buClr>
          <a:schemeClr val="accent2"/>
        </a:buClr>
        <a:buSzPct val="70000"/>
        <a:buFont typeface="Wingdings"/>
        <a:buChar char="l"/>
        <a:defRPr lang="ko-KR" alt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–"/>
        <a:defRPr lang="ko-KR" alt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•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–"/>
        <a:defRPr lang="ko-KR" alt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/>
        <a:buChar char="»"/>
        <a:defRPr lang="ko-KR" alt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416175" indent="-260350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76538" indent="-261938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5313" indent="-261938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94088" indent="-260350" algn="l" defTabSz="914400" rtl="0" eaLnBrk="1" latinLnBrk="1" hangingPunct="1">
        <a:spcBef>
          <a:spcPct val="20000"/>
        </a:spcBef>
        <a:buClr>
          <a:schemeClr val="accent2"/>
        </a:buClr>
        <a:buFont typeface="Tahoma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4934788" y="2684756"/>
            <a:ext cx="6003422" cy="1488487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latin typeface="한컴 쿨재즈 L"/>
                <a:ea typeface="한컴 쿨재즈 L"/>
              </a:rPr>
              <a:t>공주님 구하기</a:t>
            </a:r>
            <a:br>
              <a:rPr lang="en-US" altLang="ko-KR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ea typeface="한컴 쿨재즈 L"/>
              </a:rPr>
            </a:br>
            <a:r>
              <a:rPr lang="en-US" altLang="ko-KR" sz="4600">
                <a:solidFill>
                  <a:srgbClr val="ff0000"/>
                </a:solidFill>
                <a:effectLst>
                  <a:glow rad="63500">
                    <a:schemeClr val="accent1">
                      <a:satMod val="175000"/>
                      <a:alpha val="50000"/>
                    </a:schemeClr>
                  </a:glow>
                </a:effectLst>
                <a:latin typeface="한컴 쿨재즈 L"/>
                <a:ea typeface="한컴 쿨재즈 L"/>
              </a:rPr>
              <a:t>(princess rescue)</a:t>
            </a:r>
            <a:endParaRPr lang="ko-KR" altLang="en-US" sz="4600">
              <a:solidFill>
                <a:srgbClr val="ff0000"/>
              </a:solidFill>
              <a:effectLst>
                <a:glow rad="63500">
                  <a:schemeClr val="accent1">
                    <a:satMod val="175000"/>
                    <a:alpha val="50000"/>
                  </a:schemeClr>
                </a:glow>
              </a:effectLst>
              <a:latin typeface="한컴 쿨재즈 L"/>
              <a:ea typeface="한컴 쿨재즈 L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5249348" y="4506360"/>
            <a:ext cx="5374301" cy="168870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500">
                <a:solidFill>
                  <a:srgbClr val="f4deee"/>
                </a:solidFill>
                <a:latin typeface="나눔손글씨 붓"/>
                <a:ea typeface="나눔손글씨 붓"/>
              </a:rPr>
              <a:t>2022182001</a:t>
            </a:r>
            <a:endParaRPr lang="en-US" altLang="ko-KR" sz="3500">
              <a:solidFill>
                <a:srgbClr val="f4deee"/>
              </a:solidFill>
              <a:latin typeface="나눔손글씨 붓"/>
              <a:ea typeface="나눔손글씨 붓"/>
            </a:endParaRPr>
          </a:p>
          <a:p>
            <a:pPr lvl="0" algn="ctr">
              <a:defRPr/>
            </a:pPr>
            <a:r>
              <a:rPr lang="ko-KR" altLang="en-US" sz="3500">
                <a:solidFill>
                  <a:srgbClr val="f4deee"/>
                </a:solidFill>
                <a:latin typeface="나눔손글씨 붓"/>
                <a:ea typeface="나눔손글씨 붓"/>
              </a:rPr>
              <a:t>강종훈</a:t>
            </a:r>
            <a:endParaRPr lang="ko-KR" altLang="en-US" sz="3500">
              <a:solidFill>
                <a:srgbClr val="f4deee"/>
              </a:solidFill>
              <a:latin typeface="나눔손글씨 붓"/>
              <a:ea typeface="나눔손글씨 붓"/>
            </a:endParaRPr>
          </a:p>
          <a:p>
            <a:pPr lvl="0" algn="ctr">
              <a:defRPr/>
            </a:pPr>
            <a:r>
              <a:rPr lang="en-US" altLang="ko-KR" sz="3500">
                <a:solidFill>
                  <a:srgbClr val="f4deee"/>
                </a:solidFill>
                <a:latin typeface="나눔손글씨 붓"/>
                <a:ea typeface="나눔손글씨 붓"/>
              </a:rPr>
              <a:t>1</a:t>
            </a:r>
            <a:r>
              <a:rPr lang="ko-KR" altLang="en-US" sz="3500">
                <a:solidFill>
                  <a:srgbClr val="f4deee"/>
                </a:solidFill>
                <a:latin typeface="나눔손글씨 붓"/>
                <a:ea typeface="나눔손글씨 붓"/>
              </a:rPr>
              <a:t>반</a:t>
            </a:r>
            <a:endParaRPr lang="ko-KR" altLang="en-US" sz="3500">
              <a:solidFill>
                <a:srgbClr val="f4deee"/>
              </a:solidFill>
              <a:latin typeface="나눔손글씨 붓"/>
              <a:ea typeface="나눔손글씨 붓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131141" y="172554"/>
            <a:ext cx="3099076" cy="6351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비슷 한 작품</a:t>
            </a:r>
            <a:r>
              <a:rPr lang="en-US" altLang="ko-KR"/>
              <a:t>:</a:t>
            </a:r>
            <a:r>
              <a:rPr lang="ko-KR" altLang="en-US"/>
              <a:t> 젤다의 전설</a:t>
            </a:r>
            <a:r>
              <a:rPr lang="en-US" altLang="ko-KR"/>
              <a:t>(2d)</a:t>
            </a:r>
            <a:r>
              <a:rPr lang="ko-KR" altLang="en-US"/>
              <a:t> 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gradFill flip="xy" rotWithShape="1">
          <a:gsLst>
            <a:gs pos="0">
              <a:srgbClr val="000058">
                <a:alpha val="100000"/>
              </a:srgbClr>
            </a:gs>
            <a:gs pos="39000">
              <a:srgbClr val="0261d4">
                <a:alpha val="100000"/>
              </a:srgbClr>
            </a:gs>
            <a:gs pos="74000">
              <a:srgbClr val="09a9f1">
                <a:alpha val="100000"/>
              </a:srgbClr>
            </a:gs>
            <a:gs pos="100000">
              <a:srgbClr val="024aa2">
                <a:alpha val="100000"/>
              </a:srgbClr>
            </a:gs>
          </a:gsLst>
          <a:lin ang="5400000" scaled="1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lum bright="-71000"/>
            <a:extLst>
              <a:ext uri="783A4284-B454-46f5-B8C8-42B5039CE256">
                <hp:hncPhoto xmlns:hp="http://schemas.haansoft.com/office/presentation/8.0">
                  <hd:imgLayer xmlns:hd="http://schemas.haansoft.com/office/drawingml/8.0" r:embed="rId4">
                    <hd:imgEffect xmlns:hd="http://schemas.haansoft.com/office/drawingml/8.0">
                      <hd:artEffectSharpenSoften amount="25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-159910" y="-100811"/>
            <a:ext cx="12351911" cy="7059623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scene3d>
            <a:camera prst="orthographicFront"/>
            <a:lightRig rig="threePt" dir="t"/>
          </a:scene3d>
          <a:sp3d/>
        </p:spPr>
      </p:pic>
      <p:sp>
        <p:nvSpPr>
          <p:cNvPr id="28" name="직사각형 27"/>
          <p:cNvSpPr>
            <a:spLocks noGrp="1"/>
          </p:cNvSpPr>
          <p:nvPr>
            <p:ph type="title" idx="0"/>
          </p:nvPr>
        </p:nvSpPr>
        <p:spPr>
          <a:xfrm>
            <a:off x="609600" y="-100811"/>
            <a:ext cx="10972799" cy="863498"/>
          </a:xfrm>
          <a:noFill/>
        </p:spPr>
        <p:txBody>
          <a:bodyPr/>
          <a:p>
            <a:pPr lvl="0" algn="ctr">
              <a:defRPr/>
            </a:pPr>
            <a:r>
              <a:rPr lang="ko-KR" altLang="en-US">
                <a:effectLst>
                  <a:glow rad="321266">
                    <a:srgbClr val="ff0000">
                      <a:alpha val="10000"/>
                    </a:srgbClr>
                  </a:glow>
                </a:effectLst>
              </a:rPr>
              <a:t>개발 진행률</a:t>
            </a:r>
            <a:endParaRPr lang="ko-KR" altLang="en-US"/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460838" y="674952"/>
          <a:ext cx="11327857" cy="6092330"/>
        </p:xfrm>
        <a:graphic>
          <a:graphicData uri="http://schemas.openxmlformats.org/drawingml/2006/table">
            <a:tbl>
              <a:tblPr firstRow="1" bandRow="1">
                <a:effectLst>
                  <a:glow rad="190500">
                    <a:srgbClr val="ff6600">
                      <a:alpha val="50000"/>
                    </a:srgbClr>
                  </a:glow>
                </a:effectLst>
                <a:tableStyleId>{01A66EDD-3DAB-4C5B-A090-DC80EC1FD486}</a:tableStyleId>
              </a:tblPr>
              <a:tblGrid>
                <a:gridCol w="565281"/>
                <a:gridCol w="565281"/>
                <a:gridCol w="676709"/>
                <a:gridCol w="1607636"/>
                <a:gridCol w="2202908"/>
                <a:gridCol w="4022211"/>
                <a:gridCol w="1687830"/>
              </a:tblGrid>
              <a:tr h="792480">
                <a:tc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내용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목표 범위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실제 개발 완료 범위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solidFill>
                            <a:schemeClr val="lt1"/>
                          </a:solidFill>
                          <a:effectLst/>
                        </a:rPr>
                        <a:t>진척도</a:t>
                      </a:r>
                      <a:endParaRPr lang="ko-KR" altLang="en-US" sz="20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alpha val="0"/>
                      </a:schemeClr>
                    </a:solidFill>
                  </a:tcPr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955973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675981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5989">
                <a:tc rowSpan="2" gridSpan="3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be4ad">
                        <a:alpha val="0"/>
                      </a:srgb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row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80000"/>
                        <a:alpha val="0"/>
                      </a:schemeClr>
                    </a:solidFill>
                  </a:tcPr>
                </a:tc>
              </a:tr>
              <a:tr h="385989">
                <a:tc gridSpan="3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gridSpan="2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 val="90000"/>
                        <a:alpha val="0"/>
                      </a:schemeClr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v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32" name="직사각형 31"/>
          <p:cNvSpPr>
            <a:spLocks noGrp="1"/>
          </p:cNvSpPr>
          <p:nvPr/>
        </p:nvSpPr>
        <p:spPr>
          <a:xfrm>
            <a:off x="7660483" y="101594"/>
            <a:ext cx="2436017" cy="4586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전체 진행도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" name="직사각형 32"/>
          <p:cNvSpPr>
            <a:spLocks noGrp="1"/>
          </p:cNvSpPr>
          <p:nvPr/>
        </p:nvSpPr>
        <p:spPr>
          <a:xfrm>
            <a:off x="9777415" y="216265"/>
            <a:ext cx="1638299" cy="2293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anchor="ctr"/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   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100%</a:t>
            </a:r>
            <a:endPara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509253" y="1428376"/>
          <a:ext cx="11180445" cy="5358122"/>
        </p:xfrm>
        <a:graphic>
          <a:graphicData uri="http://schemas.openxmlformats.org/drawingml/2006/table">
            <a:tbl>
              <a:tblPr firstRow="1" bandRow="1">
                <a:effectLst>
                  <a:glow rad="127000">
                    <a:srgbClr val="ffd5c2">
                      <a:alpha val="50000"/>
                    </a:srgbClr>
                  </a:glow>
                </a:effectLst>
                <a:tableStyleId>{01A66EDD-3DAB-4C5B-A090-DC80EC1FD486}</a:tableStyleId>
              </a:tblPr>
              <a:tblGrid>
                <a:gridCol w="1725930"/>
                <a:gridCol w="3850005"/>
                <a:gridCol w="4059555"/>
                <a:gridCol w="1544955"/>
              </a:tblGrid>
              <a:tr h="63030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맵</a:t>
                      </a:r>
                      <a:endParaRPr lang="ko-KR" altLang="en-US" b="0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마을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전장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보스맵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 구현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모두 완료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 보스 로드맵 구현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 b="0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85441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게임 컨트롤러</a:t>
                      </a:r>
                      <a:endParaRPr lang="ko-KR" altLang="en-US" b="0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좌우상하 이동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달리기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미니맵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전체맵보기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모두 구현 완료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 b="0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 b="0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5793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게임코어 기능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Level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에 따라 다양한 스킬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보스의 다양한 스킬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모두 구현 완료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82347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모델링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Level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에 따른 다른 기사 이미지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다양한 몬스터 및 화려한 보스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모두 구현 완료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823473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en-US" altLang="ko-KR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편의 기능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미니맵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전체맵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퀘스트 로그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 on/off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모두 구현 완료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초보자 알리미 구현 완료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89137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사운드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계획 사항에는 없었음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플레이어 및 보스의 공격 및 아이템 줍기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포탈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몬스터 데미지 다양한 맵 사운드 구현 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65793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그 외</a:t>
                      </a:r>
                      <a:endParaRPr lang="ko-KR" altLang="en-US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포탈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포션 아이템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클리어 화면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 클리어 포탈 등 구현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하나도 빠짐없이 구현완료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rgbClr val="ffc299"/>
                          </a:solidFill>
                          <a:effectLst>
                            <a:glow rad="449247">
                              <a:srgbClr val="bf0000">
                                <a:alpha val="39000"/>
                              </a:srgbClr>
                            </a:glow>
                          </a:effectLst>
                        </a:rPr>
                        <a:t>100%</a:t>
                      </a:r>
                      <a:endParaRPr lang="en-US" altLang="ko-KR">
                        <a:solidFill>
                          <a:srgbClr val="ffc299"/>
                        </a:solidFill>
                        <a:effectLst>
                          <a:glow rad="449247">
                            <a:srgbClr val="bf0000">
                              <a:alpha val="39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lum bright="-71000"/>
            <a:extLst>
              <a:ext uri="783A4284-B454-46f5-B8C8-42B5039CE256">
                <hp:hncPhoto xmlns:hp="http://schemas.haansoft.com/office/presentation/8.0">
                  <hd:imgLayer xmlns:hd="http://schemas.haansoft.com/office/drawingml/8.0" r:embed="rId3">
                    <hd:imgEffect xmlns:hd="http://schemas.haansoft.com/office/drawingml/8.0">
                      <hd:artEffectSharpenSoften amount="25000"/>
                    </hd:imgEffect>
                  </hd:imgLayer>
                </hp:hncPhoto>
              </a:ext>
            </a:extLst>
          </a:blip>
          <a:stretch>
            <a:fillRect/>
          </a:stretch>
        </p:blipFill>
        <p:spPr>
          <a:xfrm>
            <a:off x="-159910" y="-100811"/>
            <a:ext cx="12351911" cy="7059623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scene3d>
            <a:camera prst="orthographicFront"/>
            <a:lightRig rig="threePt" dir="t"/>
          </a:scene3d>
          <a:sp3d/>
        </p:spPr>
      </p:pic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-159910" y="1387861"/>
          <a:ext cx="6749415" cy="4988647"/>
        </p:xfrm>
        <a:graphic>
          <a:graphicData uri="http://schemas.openxmlformats.org/drawingml/2006/table">
            <a:tbl>
              <a:tblPr firstRow="1" bandRow="1">
                <a:effectLst>
                  <a:glow rad="127000">
                    <a:srgbClr val="ffd5c2">
                      <a:alpha val="50000"/>
                    </a:srgbClr>
                  </a:glow>
                </a:effectLst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3326130"/>
                <a:gridCol w="3423284"/>
              </a:tblGrid>
              <a:tr h="42229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주</a:t>
                      </a:r>
                      <a:endParaRPr lang="ko-KR" altLang="en-US" b="0">
                        <a:solidFill>
                          <a:srgbClr val="ff9999"/>
                        </a:solidFill>
                        <a:effectLst>
                          <a:glow rad="127000">
                            <a:srgbClr val="ff6666">
                              <a:alpha val="50000"/>
                            </a:srgbClr>
                          </a:glow>
                        </a:effectLst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0">
                          <a:solidFill>
                            <a:srgbClr val="ff9999"/>
                          </a:solidFill>
                          <a:effectLst>
                            <a:glow rad="127000">
                              <a:srgbClr val="ff6666">
                                <a:alpha val="50000"/>
                              </a:srgbClr>
                            </a:glow>
                          </a:effectLst>
                        </a:rPr>
                        <a:t>커밋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57244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week of 28 Sep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408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week of 12 Oct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55171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week of 19 Oct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8353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week of 26 Oct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26082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2 Nov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408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9 Nov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408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16 Nov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84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040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23 Nov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40807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30 Nov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4653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 of 7 Dec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ffdfb3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6000" y="682305"/>
            <a:ext cx="5940954" cy="59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3322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동굴">
  <a:themeElements>
    <a:clrScheme name="동굴">
      <a:dk1>
        <a:srgbClr val="000000"/>
      </a:dk1>
      <a:lt1>
        <a:srgbClr val="ffffff"/>
      </a:lt1>
      <a:dk2>
        <a:srgbClr val="333333"/>
      </a:dk2>
      <a:lt2>
        <a:srgbClr val="daab00"/>
      </a:lt2>
      <a:accent1>
        <a:srgbClr val="49461b"/>
      </a:accent1>
      <a:accent2>
        <a:srgbClr val="a27f00"/>
      </a:accent2>
      <a:accent3>
        <a:srgbClr val="f9e03b"/>
      </a:accent3>
      <a:accent4>
        <a:srgbClr val="684100"/>
      </a:accent4>
      <a:accent5>
        <a:srgbClr val="ffae0d"/>
      </a:accent5>
      <a:accent6>
        <a:srgbClr val="8d8a00"/>
      </a:accent6>
      <a:hlink>
        <a:srgbClr val="4a45ff"/>
      </a:hlink>
      <a:folHlink>
        <a:srgbClr val="be27bb"/>
      </a:folHlink>
    </a:clrScheme>
    <a:fontScheme name="동굴">
      <a:majorFont>
        <a:latin typeface="Tahoma"/>
        <a:ea typeface=""/>
        <a:cs typeface=""/>
        <a:font script="Jpan" typeface="MS PGothic"/>
        <a:font script="Hang" typeface="HY태백B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ahoma"/>
        <a:ea typeface=""/>
        <a:cs typeface="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동굴">
      <a:fillStyleLst>
        <a:solidFill>
          <a:schemeClr val="phClr"/>
        </a:solidFill>
        <a:gradFill rotWithShape="1">
          <a:gsLst>
            <a:gs pos="0">
              <a:schemeClr val="phClr">
                <a:alpha val="9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25400" cap="flat" cmpd="sng" algn="ctr">
          <a:solidFill>
            <a:schemeClr val="phClr">
              <a:tint val="40000"/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>
              <a:tint val="80000"/>
              <a:hueMod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</ep:Words>
  <ep:PresentationFormat>화면 슬라이드 쇼(4:3)</ep:PresentationFormat>
  <ep:Paragraphs>8</ep:Paragraphs>
  <ep:Slides>3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동굴</vt:lpstr>
      <vt:lpstr>슬라이드 1</vt:lpstr>
      <vt:lpstr>개발 진행률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2025-09-26T08:24:53.250</dcterms:created>
  <dc:creator>PC</dc:creator>
  <cp:lastModifiedBy>PC</cp:lastModifiedBy>
  <dcterms:modified xsi:type="dcterms:W3CDTF">2025-12-10T13:06:40.021</dcterms:modified>
  <cp:revision>74</cp:revision>
  <dc:title>공주님 구하기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