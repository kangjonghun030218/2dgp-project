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1" r:id="rId1"/>
  </p:sldMasterIdLst>
  <p:notesMasterIdLst>
    <p:notesMasterId r:id="rId2"/>
  </p:notesMasterIdLst>
  <p:sldIdLst>
    <p:sldId id="256" r:id="rId3"/>
    <p:sldId id="261" r:id="rId4"/>
    <p:sldId id="263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browse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89661"/>
  </p:normalViewPr>
  <p:slideViewPr>
    <p:cSldViewPr snapToGrid="0" snapToObjects="1">
      <p:cViewPr>
        <p:scale>
          <a:sx n="80" d="100"/>
          <a:sy n="8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presProps" Target="presProps.xml"  /><Relationship Id="rId8" Type="http://schemas.openxmlformats.org/officeDocument/2006/relationships/viewProps" Target="viewProps.xml"  /><Relationship Id="rId9" Type="http://schemas.openxmlformats.org/officeDocument/2006/relationships/theme" Target="theme/theme1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695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036487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547762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914399" y="3959239"/>
            <a:ext cx="10363199" cy="1470025"/>
          </a:xfrm>
        </p:spPr>
        <p:txBody>
          <a:bodyPr/>
          <a:lstStyle>
            <a:lvl1pPr algn="l">
              <a:defRPr sz="54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subTitle" idx="1"/>
          </p:nvPr>
        </p:nvSpPr>
        <p:spPr>
          <a:xfrm>
            <a:off x="914399" y="5470527"/>
            <a:ext cx="10377714" cy="542932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572FC9A-F08A-40D2-A553-C964E737DACF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047530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E75AFC5B-087B-44FE-989E-1596680C7163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958220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D9742031-F2F4-4E94-B5F8-210DA61C629A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3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66843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9" cy="1362075"/>
          </a:xfrm>
        </p:spPr>
        <p:txBody>
          <a:bodyPr anchor="t"/>
          <a:lstStyle>
            <a:lvl1pPr algn="r">
              <a:defRPr sz="5400" b="0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963083" y="3853543"/>
            <a:ext cx="10363199" cy="553357"/>
          </a:xfrm>
        </p:spPr>
        <p:txBody>
          <a:bodyPr anchor="b"/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6039415-73A3-48E6-9B63-B10990BA1D50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631677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9" cy="863498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sz="quarter" idx="13"/>
          </p:nvPr>
        </p:nvSpPr>
        <p:spPr>
          <a:xfrm>
            <a:off x="609599" y="1285875"/>
            <a:ext cx="5384799" cy="4929188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1" name=""/>
          <p:cNvSpPr>
            <a:spLocks noGrp="1"/>
          </p:cNvSpPr>
          <p:nvPr>
            <p:ph sz="quarter" idx="14"/>
          </p:nvPr>
        </p:nvSpPr>
        <p:spPr>
          <a:xfrm>
            <a:off x="6197599" y="1285875"/>
            <a:ext cx="5384799" cy="4929188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385CBBDB-DD8F-472D-BEFC-C44A4FE5D39A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638370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9D0E901A-5BCE-44B8-B860-454417D09A18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844994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tbl" sz="quarter" idx="13"/>
          </p:nvPr>
        </p:nvSpPr>
        <p:spPr>
          <a:xfrm>
            <a:off x="608037" y="1643063"/>
            <a:ext cx="10972799" cy="4525200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표를 추가하려면 아이콘을 클릭하십시오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F55EB35E-DFE6-4780-9AEC-CE8E9FFE6699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85590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9" cy="863498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1" name=""/>
          <p:cNvSpPr>
            <a:spLocks noGrp="1"/>
          </p:cNvSpPr>
          <p:nvPr>
            <p:ph sz="quarter" idx="13"/>
          </p:nvPr>
        </p:nvSpPr>
        <p:spPr>
          <a:xfrm>
            <a:off x="609599" y="1285860"/>
            <a:ext cx="5341257" cy="2398259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3" name=""/>
          <p:cNvSpPr>
            <a:spLocks noGrp="1"/>
          </p:cNvSpPr>
          <p:nvPr>
            <p:ph sz="quarter" idx="14"/>
          </p:nvPr>
        </p:nvSpPr>
        <p:spPr>
          <a:xfrm>
            <a:off x="6241142" y="1285860"/>
            <a:ext cx="5341257" cy="2398259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8" name=""/>
          <p:cNvSpPr>
            <a:spLocks noGrp="1"/>
          </p:cNvSpPr>
          <p:nvPr>
            <p:ph sz="quarter" idx="15"/>
          </p:nvPr>
        </p:nvSpPr>
        <p:spPr>
          <a:xfrm>
            <a:off x="609599" y="3829734"/>
            <a:ext cx="5341257" cy="2398259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9" name=""/>
          <p:cNvSpPr>
            <a:spLocks noGrp="1"/>
          </p:cNvSpPr>
          <p:nvPr>
            <p:ph sz="quarter" idx="16"/>
          </p:nvPr>
        </p:nvSpPr>
        <p:spPr>
          <a:xfrm>
            <a:off x="6241142" y="3829734"/>
            <a:ext cx="5341257" cy="2398259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3A9AF94D-3D9E-4B98-9B14-7443FDEB0C88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8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13789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2389717" y="4800600"/>
            <a:ext cx="7315199" cy="566738"/>
          </a:xfrm>
        </p:spPr>
        <p:txBody>
          <a:bodyPr anchor="b"/>
          <a:lstStyle>
            <a:lvl1pPr algn="l">
              <a:defRPr sz="2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pic" idx="1"/>
          </p:nvPr>
        </p:nvSpPr>
        <p:spPr>
          <a:xfrm>
            <a:off x="2389717" y="612775"/>
            <a:ext cx="7315199" cy="4114800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199" cy="804862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7D2A8C51-5F59-4292-8134-3DE1FFFD33BB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452241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609599" y="2632092"/>
            <a:ext cx="10972799" cy="1154098"/>
          </a:xfrm>
        </p:spPr>
        <p:txBody>
          <a:bodyPr/>
          <a:lstStyle>
            <a:lvl1pPr algn="ctr">
              <a:defRPr sz="54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B69A4AFF-EEC0-4395-BBA4-418651BA32BC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566936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1123991" y="1285860"/>
            <a:ext cx="9258287" cy="863498"/>
          </a:xfrm>
        </p:spPr>
        <p:txBody>
          <a:bodyPr/>
          <a:lstStyle>
            <a:lvl1pPr>
              <a:defRPr sz="44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type="body" sz="quarter" idx="14"/>
          </p:nvPr>
        </p:nvSpPr>
        <p:spPr>
          <a:xfrm>
            <a:off x="1098282" y="2357438"/>
            <a:ext cx="7583999" cy="3128400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7A7E38C-89A5-47DE-ADB5-CE73DE4FAD75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603484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orient="vert" idx="0"/>
          </p:nvPr>
        </p:nvSpPr>
        <p:spPr>
          <a:xfrm>
            <a:off x="9525023" y="274638"/>
            <a:ext cx="2057375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629671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709772C0-CC7C-4112-8CC7-54EF9E00CBD9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045585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9" cy="8634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09599" y="1264596"/>
            <a:ext cx="10972799" cy="4861567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 defTabSz="914400" rtl="0" eaLnBrk="1" latinLnBrk="1" hangingPunct="1">
              <a:defRPr lang="ko-KR" alt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 lang="ko-KR" altLang="en-US"/>
            </a:pPr>
            <a:fld id="{7C5EE21D-1348-4462-AB7D-141570684188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58708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lang="ko-KR" altLang="en-US" sz="3600" kern="1200" dirty="0">
          <a:solidFill>
            <a:schemeClr val="bg2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1" hangingPunct="1">
        <a:spcBef>
          <a:spcPct val="20000"/>
        </a:spcBef>
        <a:buClr>
          <a:schemeClr val="accent2"/>
        </a:buClr>
        <a:buSzPct val="70000"/>
        <a:buFont typeface="Wingdings"/>
        <a:buChar char="l"/>
        <a:defRPr lang="ko-KR" alt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Font typeface="Arial"/>
        <a:buChar char="–"/>
        <a:defRPr lang="ko-KR" alt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/>
        <a:buChar char="•"/>
        <a:defRPr lang="ko-KR" alt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/>
        <a:buChar char="–"/>
        <a:defRPr lang="ko-KR" alt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/>
        <a:buChar char="»"/>
        <a:defRPr lang="ko-KR" alt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416175" indent="-260350" algn="l" defTabSz="914400" rtl="0" eaLnBrk="1" latinLnBrk="1" hangingPunct="1">
        <a:spcBef>
          <a:spcPct val="20000"/>
        </a:spcBef>
        <a:buClr>
          <a:schemeClr val="accent2"/>
        </a:buClr>
        <a:buFont typeface="Tahoma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76538" indent="-261938" algn="l" defTabSz="914400" rtl="0" eaLnBrk="1" latinLnBrk="1" hangingPunct="1">
        <a:spcBef>
          <a:spcPct val="20000"/>
        </a:spcBef>
        <a:buClr>
          <a:schemeClr val="accent2"/>
        </a:buClr>
        <a:buFont typeface="Tahoma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135313" indent="-261938" algn="l" defTabSz="914400" rtl="0" eaLnBrk="1" latinLnBrk="1" hangingPunct="1">
        <a:spcBef>
          <a:spcPct val="20000"/>
        </a:spcBef>
        <a:buClr>
          <a:schemeClr val="accent2"/>
        </a:buClr>
        <a:buFont typeface="Tahoma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94088" indent="-260350" algn="l" defTabSz="914400" rtl="0" eaLnBrk="1" latinLnBrk="1" hangingPunct="1">
        <a:spcBef>
          <a:spcPct val="20000"/>
        </a:spcBef>
        <a:buClr>
          <a:schemeClr val="accent2"/>
        </a:buClr>
        <a:buFont typeface="Tahoma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4934788" y="2684756"/>
            <a:ext cx="6003422" cy="1488487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4600">
                <a:solidFill>
                  <a:srgbClr val="ff0000"/>
                </a:solidFill>
                <a:effectLst>
                  <a:glow rad="63500">
                    <a:schemeClr val="accent1">
                      <a:satMod val="175000"/>
                      <a:alpha val="50000"/>
                    </a:schemeClr>
                  </a:glow>
                </a:effectLst>
                <a:latin typeface="한컴 쿨재즈 L"/>
                <a:ea typeface="한컴 쿨재즈 L"/>
              </a:rPr>
              <a:t>공주님 구하기</a:t>
            </a:r>
            <a:br>
              <a:rPr lang="en-US" altLang="ko-KR" sz="4600">
                <a:solidFill>
                  <a:srgbClr val="ff0000"/>
                </a:solidFill>
                <a:effectLst>
                  <a:glow rad="63500">
                    <a:schemeClr val="accent1">
                      <a:satMod val="175000"/>
                      <a:alpha val="50000"/>
                    </a:schemeClr>
                  </a:glow>
                </a:effectLst>
                <a:ea typeface="한컴 쿨재즈 L"/>
              </a:rPr>
            </a:br>
            <a:r>
              <a:rPr lang="en-US" altLang="ko-KR" sz="4600">
                <a:solidFill>
                  <a:srgbClr val="ff0000"/>
                </a:solidFill>
                <a:effectLst>
                  <a:glow rad="63500">
                    <a:schemeClr val="accent1">
                      <a:satMod val="175000"/>
                      <a:alpha val="50000"/>
                    </a:schemeClr>
                  </a:glow>
                </a:effectLst>
                <a:latin typeface="한컴 쿨재즈 L"/>
                <a:ea typeface="한컴 쿨재즈 L"/>
              </a:rPr>
              <a:t>(princess rescue)</a:t>
            </a:r>
            <a:endParaRPr lang="ko-KR" altLang="en-US" sz="4600">
              <a:solidFill>
                <a:srgbClr val="ff0000"/>
              </a:solidFill>
              <a:effectLst>
                <a:glow rad="63500">
                  <a:schemeClr val="accent1">
                    <a:satMod val="175000"/>
                    <a:alpha val="50000"/>
                  </a:schemeClr>
                </a:glow>
              </a:effectLst>
              <a:latin typeface="한컴 쿨재즈 L"/>
              <a:ea typeface="한컴 쿨재즈 L"/>
            </a:endParaRPr>
          </a:p>
        </p:txBody>
      </p:sp>
      <p:sp>
        <p:nvSpPr>
          <p:cNvPr id="16" name="가로 글상자 15"/>
          <p:cNvSpPr txBox="1"/>
          <p:nvPr/>
        </p:nvSpPr>
        <p:spPr>
          <a:xfrm>
            <a:off x="5249348" y="4506360"/>
            <a:ext cx="5374301" cy="1688700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3500">
                <a:solidFill>
                  <a:srgbClr val="f4deee"/>
                </a:solidFill>
                <a:latin typeface="나눔손글씨 붓"/>
                <a:ea typeface="나눔손글씨 붓"/>
              </a:rPr>
              <a:t>2022182001</a:t>
            </a:r>
            <a:endParaRPr lang="en-US" altLang="ko-KR" sz="3500">
              <a:solidFill>
                <a:srgbClr val="f4deee"/>
              </a:solidFill>
              <a:latin typeface="나눔손글씨 붓"/>
              <a:ea typeface="나눔손글씨 붓"/>
            </a:endParaRPr>
          </a:p>
          <a:p>
            <a:pPr lvl="0" algn="ctr">
              <a:defRPr/>
            </a:pPr>
            <a:r>
              <a:rPr lang="ko-KR" altLang="en-US" sz="3500">
                <a:solidFill>
                  <a:srgbClr val="f4deee"/>
                </a:solidFill>
                <a:latin typeface="나눔손글씨 붓"/>
                <a:ea typeface="나눔손글씨 붓"/>
              </a:rPr>
              <a:t>강종훈</a:t>
            </a:r>
            <a:endParaRPr lang="ko-KR" altLang="en-US" sz="3500">
              <a:solidFill>
                <a:srgbClr val="f4deee"/>
              </a:solidFill>
              <a:latin typeface="나눔손글씨 붓"/>
              <a:ea typeface="나눔손글씨 붓"/>
            </a:endParaRPr>
          </a:p>
          <a:p>
            <a:pPr lvl="0" algn="ctr">
              <a:defRPr/>
            </a:pPr>
            <a:r>
              <a:rPr lang="en-US" altLang="ko-KR" sz="3500">
                <a:solidFill>
                  <a:srgbClr val="f4deee"/>
                </a:solidFill>
                <a:latin typeface="나눔손글씨 붓"/>
                <a:ea typeface="나눔손글씨 붓"/>
              </a:rPr>
              <a:t>1</a:t>
            </a:r>
            <a:r>
              <a:rPr lang="ko-KR" altLang="en-US" sz="3500">
                <a:solidFill>
                  <a:srgbClr val="f4deee"/>
                </a:solidFill>
                <a:latin typeface="나눔손글씨 붓"/>
                <a:ea typeface="나눔손글씨 붓"/>
              </a:rPr>
              <a:t>반</a:t>
            </a:r>
            <a:endParaRPr lang="ko-KR" altLang="en-US" sz="3500">
              <a:solidFill>
                <a:srgbClr val="f4deee"/>
              </a:solidFill>
              <a:latin typeface="나눔손글씨 붓"/>
              <a:ea typeface="나눔손글씨 붓"/>
            </a:endParaRPr>
          </a:p>
        </p:txBody>
      </p:sp>
      <p:sp>
        <p:nvSpPr>
          <p:cNvPr id="17" name="가로 글상자 16"/>
          <p:cNvSpPr txBox="1"/>
          <p:nvPr/>
        </p:nvSpPr>
        <p:spPr>
          <a:xfrm>
            <a:off x="131141" y="172554"/>
            <a:ext cx="3099076" cy="63516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비슷 한 작품</a:t>
            </a:r>
            <a:r>
              <a:rPr lang="en-US" altLang="ko-KR"/>
              <a:t>:</a:t>
            </a:r>
            <a:r>
              <a:rPr lang="ko-KR" altLang="en-US"/>
              <a:t> 젤다의 전설</a:t>
            </a:r>
            <a:r>
              <a:rPr lang="en-US" altLang="ko-KR"/>
              <a:t>(2d)</a:t>
            </a:r>
            <a:r>
              <a:rPr lang="ko-KR" altLang="en-US"/>
              <a:t> 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gradFill flip="xy" rotWithShape="1">
          <a:gsLst>
            <a:gs pos="0">
              <a:srgbClr val="000058">
                <a:alpha val="100000"/>
              </a:srgbClr>
            </a:gs>
            <a:gs pos="39000">
              <a:srgbClr val="0261d4">
                <a:alpha val="100000"/>
              </a:srgbClr>
            </a:gs>
            <a:gs pos="74000">
              <a:srgbClr val="09a9f1">
                <a:alpha val="100000"/>
              </a:srgbClr>
            </a:gs>
            <a:gs pos="100000">
              <a:srgbClr val="024aa2">
                <a:alpha val="100000"/>
              </a:srgbClr>
            </a:gs>
          </a:gsLst>
          <a:lin ang="5400000" scaled="1"/>
          <a:tileRect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>
            <a:lum bright="-71000"/>
            <a:extLst>
              <a:ext uri="783A4284-B454-46f5-B8C8-42B5039CE256">
                <hp:hncPhoto xmlns:hp="http://schemas.haansoft.com/office/presentation/8.0">
                  <hd:imgLayer xmlns:hd="http://schemas.haansoft.com/office/drawingml/8.0" r:embed="rId3">
                    <hd:imgEffect xmlns:hd="http://schemas.haansoft.com/office/drawingml/8.0">
                      <hd:artEffectSharpenSoften amount="25000"/>
                    </hd:imgEffect>
                  </hd:imgLayer>
                </hp:hncPhoto>
              </a:ext>
            </a:extLst>
          </a:blip>
          <a:stretch>
            <a:fillRect/>
          </a:stretch>
        </p:blipFill>
        <p:spPr>
          <a:xfrm>
            <a:off x="-159910" y="-100811"/>
            <a:ext cx="12351911" cy="7059623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scene3d>
            <a:camera prst="orthographicFront"/>
            <a:lightRig rig="threePt" dir="t"/>
          </a:scene3d>
          <a:sp3d/>
        </p:spPr>
      </p:pic>
      <p:sp>
        <p:nvSpPr>
          <p:cNvPr id="28" name="직사각형 27"/>
          <p:cNvSpPr>
            <a:spLocks noGrp="1"/>
          </p:cNvSpPr>
          <p:nvPr>
            <p:ph type="title" idx="0"/>
          </p:nvPr>
        </p:nvSpPr>
        <p:spPr>
          <a:xfrm>
            <a:off x="609600" y="-100811"/>
            <a:ext cx="10972799" cy="863498"/>
          </a:xfrm>
          <a:noFill/>
        </p:spPr>
        <p:txBody>
          <a:bodyPr/>
          <a:p>
            <a:pPr lvl="0" algn="ctr">
              <a:defRPr/>
            </a:pPr>
            <a:r>
              <a:rPr lang="ko-KR" altLang="en-US">
                <a:effectLst>
                  <a:glow rad="321266">
                    <a:srgbClr val="ff0000">
                      <a:alpha val="10000"/>
                    </a:srgbClr>
                  </a:glow>
                </a:effectLst>
              </a:rPr>
              <a:t>개발 진행률</a:t>
            </a:r>
            <a:endParaRPr lang="ko-KR" altLang="en-US"/>
          </a:p>
        </p:txBody>
      </p:sp>
      <p:graphicFrame>
        <p:nvGraphicFramePr>
          <p:cNvPr id="31" name="표 30"/>
          <p:cNvGraphicFramePr>
            <a:graphicFrameLocks noGrp="1"/>
          </p:cNvGraphicFramePr>
          <p:nvPr/>
        </p:nvGraphicFramePr>
        <p:xfrm>
          <a:off x="460838" y="674952"/>
          <a:ext cx="11327860" cy="5696094"/>
        </p:xfrm>
        <a:graphic>
          <a:graphicData uri="http://schemas.openxmlformats.org/drawingml/2006/table">
            <a:tbl>
              <a:tblPr firstRow="1" bandRow="1">
                <a:effectLst>
                  <a:glow rad="190500">
                    <a:srgbClr val="ff6600">
                      <a:alpha val="50000"/>
                    </a:srgbClr>
                  </a:glow>
                </a:effectLst>
                <a:tableStyleId>{01A66EDD-3DAB-4C5B-A090-DC80EC1FD486}</a:tableStyleId>
              </a:tblPr>
              <a:tblGrid>
                <a:gridCol w="565281"/>
                <a:gridCol w="565281"/>
                <a:gridCol w="465043"/>
                <a:gridCol w="119091"/>
                <a:gridCol w="565281"/>
                <a:gridCol w="565281"/>
                <a:gridCol w="569650"/>
                <a:gridCol w="6225119"/>
                <a:gridCol w="1687830"/>
              </a:tblGrid>
              <a:tr h="385989">
                <a:tc grid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solidFill>
                            <a:schemeClr val="lt1"/>
                          </a:solidFill>
                          <a:effectLst/>
                        </a:rPr>
                        <a:t>주차</a:t>
                      </a:r>
                      <a:endParaRPr lang="ko-KR" altLang="en-US" sz="2000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alpha val="0"/>
                      </a:scheme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5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solidFill>
                            <a:schemeClr val="lt1"/>
                          </a:solidFill>
                          <a:effectLst/>
                        </a:rPr>
                        <a:t>내용</a:t>
                      </a:r>
                      <a:endParaRPr lang="ko-KR" altLang="en-US" sz="2000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alpha val="0"/>
                      </a:scheme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solidFill>
                            <a:schemeClr val="lt1"/>
                          </a:solidFill>
                          <a:effectLst/>
                        </a:rPr>
                        <a:t>진행률</a:t>
                      </a:r>
                      <a:endParaRPr lang="ko-KR" altLang="en-US" sz="2000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alpha val="0"/>
                      </a:schemeClr>
                    </a:solidFill>
                  </a:tcPr>
                </a:tc>
              </a:tr>
              <a:tr h="385989">
                <a:tc rowSpan="2" grid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en-US" altLang="ko-KR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</a:tr>
              <a:tr h="675981">
                <a:tc gridSpan="3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85989">
                <a:tc rowSpan="2" grid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en-US" altLang="ko-KR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</a:tr>
              <a:tr h="955973">
                <a:tc gridSpan="3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85989">
                <a:tc rowSpan="2" grid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</a:tr>
              <a:tr h="675981">
                <a:tc gridSpan="3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85989">
                <a:tc rowSpan="2" grid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</a:tr>
              <a:tr h="675981">
                <a:tc gridSpan="3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85989">
                <a:tc rowSpan="2" grid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en-US" altLang="ko-KR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</a:tr>
              <a:tr h="385989">
                <a:tc gridSpan="3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32" name="직사각형 31"/>
          <p:cNvSpPr>
            <a:spLocks noGrp="1"/>
          </p:cNvSpPr>
          <p:nvPr/>
        </p:nvSpPr>
        <p:spPr>
          <a:xfrm>
            <a:off x="7660483" y="101594"/>
            <a:ext cx="2436017" cy="4586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전체 대비 진행률</a:t>
            </a:r>
            <a:endPara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<a:solidFill>
                <a:schemeClr val="bg2">
                  <a:lumMod val="40000"/>
                  <a:lumOff val="6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3" name="직사각형 32"/>
          <p:cNvSpPr>
            <a:spLocks noGrp="1"/>
          </p:cNvSpPr>
          <p:nvPr/>
        </p:nvSpPr>
        <p:spPr>
          <a:xfrm>
            <a:off x="9777415" y="216265"/>
            <a:ext cx="1638299" cy="2293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anchor="ctr"/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     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65%</a:t>
            </a:r>
            <a:endPara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<a:solidFill>
                <a:schemeClr val="bg2">
                  <a:lumMod val="40000"/>
                  <a:lumOff val="60000"/>
                </a:schemeClr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5" name="표 34"/>
          <p:cNvGraphicFramePr>
            <a:graphicFrameLocks noGrp="1"/>
          </p:cNvGraphicFramePr>
          <p:nvPr/>
        </p:nvGraphicFramePr>
        <p:xfrm>
          <a:off x="570906" y="1169672"/>
          <a:ext cx="11050189" cy="5048251"/>
        </p:xfrm>
        <a:graphic>
          <a:graphicData uri="http://schemas.openxmlformats.org/drawingml/2006/table">
            <a:tbl>
              <a:tblPr firstRow="1" bandRow="1">
                <a:effectLst>
                  <a:glow rad="127000">
                    <a:srgbClr val="ffd5c2">
                      <a:alpha val="50000"/>
                    </a:srgbClr>
                  </a:glow>
                </a:effectLst>
                <a:tableStyleId>{01A66EDD-3DAB-4C5B-A090-DC80EC1FD486}</a:tableStyleId>
              </a:tblPr>
              <a:tblGrid>
                <a:gridCol w="1478096"/>
                <a:gridCol w="1867318"/>
                <a:gridCol w="6179056"/>
                <a:gridCol w="1525718"/>
              </a:tblGrid>
              <a:tr h="367665"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en-US" altLang="ko-KR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1</a:t>
                      </a:r>
                      <a:r>
                        <a:rPr lang="ko-KR" altLang="en-US" b="0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주차</a:t>
                      </a:r>
                      <a:endParaRPr lang="ko-KR" altLang="en-US" b="0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  <a:effectLst/>
                        </a:rPr>
                        <a:t>계획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  <a:effectLst/>
                        </a:rPr>
                        <a:t>메뉴화면과 마을맵 구현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r>
                        <a:rPr lang="ko-KR" altLang="en-US" b="0">
                          <a:solidFill>
                            <a:srgbClr val="ffff00"/>
                          </a:solidFill>
                          <a:effectLst/>
                        </a:rPr>
                        <a:t>미니맵 구현</a:t>
                      </a:r>
                      <a:endParaRPr lang="ko-KR" altLang="en-US" b="0">
                        <a:solidFill>
                          <a:srgbClr val="ffff00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en-US" altLang="ko-KR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100%</a:t>
                      </a:r>
                      <a:endParaRPr lang="en-US" altLang="ko-KR" b="0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643890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결과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마을맵의 필요한 부분에 대한 충돌처리 구현 완료 및 메뉴화면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 마을 오류없이 구현 완료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r>
                        <a:rPr lang="ko-KR" altLang="en-US">
                          <a:solidFill>
                            <a:srgbClr val="ffff00"/>
                          </a:solidFill>
                          <a:effectLst/>
                        </a:rPr>
                        <a:t>미니맵 구현완료</a:t>
                      </a:r>
                      <a:endParaRPr lang="ko-KR" altLang="en-US">
                        <a:solidFill>
                          <a:srgbClr val="ffff00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67665"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en-US" altLang="ko-KR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endParaRPr lang="en-US" altLang="ko-KR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2</a:t>
                      </a:r>
                      <a:r>
                        <a:rPr lang="ko-KR" altLang="en-US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주차</a:t>
                      </a:r>
                      <a:endParaRPr lang="ko-KR" altLang="en-US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계획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캐릭터 및 무기 구현 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95%</a:t>
                      </a:r>
                      <a:endParaRPr lang="ko-KR" altLang="en-US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910590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결과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캐릭터 애니매이션 모든 모션 구현 완료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 무기는 일정 퀘스트 완료시 업그레이드되는 형식이라 몬스터 구현 후 추후에 다시구현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67665"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en-US" altLang="ko-KR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3</a:t>
                      </a:r>
                      <a:r>
                        <a:rPr lang="ko-KR" altLang="en-US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주차</a:t>
                      </a:r>
                      <a:endParaRPr lang="ko-KR" altLang="en-US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계획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</a:rPr>
                        <a:t>npc, 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퀘스트 구현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95%</a:t>
                      </a:r>
                      <a:endParaRPr lang="ko-KR" altLang="en-US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643890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결과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</a:rPr>
                        <a:t>space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바를 누르고 대화 가능 및 퀘스트 받기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 몬스터 구현이 완벽하지 않으므로 퀘스트 자세한 내용은 추후에 구현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67665"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en-US" altLang="ko-KR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4</a:t>
                      </a:r>
                      <a:r>
                        <a:rPr lang="ko-KR" altLang="en-US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주차</a:t>
                      </a:r>
                      <a:endParaRPr lang="ko-KR" altLang="en-US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계획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스킬트리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 아이템 구현 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</a:rPr>
                        <a:t>---&gt;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>
                          <a:solidFill>
                            <a:srgbClr val="ffff00"/>
                          </a:solidFill>
                          <a:effectLst/>
                        </a:rPr>
                        <a:t>스킬트리 및 스킬모션 구현</a:t>
                      </a:r>
                      <a:endParaRPr lang="ko-KR" altLang="en-US">
                        <a:solidFill>
                          <a:srgbClr val="ffff00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100%</a:t>
                      </a:r>
                      <a:endParaRPr lang="ko-KR" altLang="en-US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643890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결과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아이템 구현은 몬스터가 죽은 후 무작위로 떨어지게 할 예정이므로 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주차에 완료할 예정 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67665"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en-US" altLang="ko-KR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5</a:t>
                      </a:r>
                      <a:r>
                        <a:rPr lang="ko-KR" altLang="en-US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주차</a:t>
                      </a:r>
                      <a:endParaRPr lang="ko-KR" altLang="en-US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계획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전장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몬스터 구현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r>
                        <a:rPr lang="en-US" altLang="ko-KR">
                          <a:solidFill>
                            <a:srgbClr val="ffff00"/>
                          </a:solidFill>
                          <a:effectLst/>
                        </a:rPr>
                        <a:t>(</a:t>
                      </a:r>
                      <a:r>
                        <a:rPr lang="ko-KR" altLang="en-US">
                          <a:solidFill>
                            <a:srgbClr val="ffff00"/>
                          </a:solidFill>
                          <a:effectLst/>
                        </a:rPr>
                        <a:t>몬스터 움직임 구현</a:t>
                      </a:r>
                      <a:r>
                        <a:rPr lang="en-US" altLang="ko-KR">
                          <a:solidFill>
                            <a:srgbClr val="ffff00"/>
                          </a:solidFill>
                          <a:effectLst/>
                        </a:rPr>
                        <a:t>)</a:t>
                      </a:r>
                      <a:endParaRPr lang="ko-KR" altLang="en-US">
                        <a:solidFill>
                          <a:srgbClr val="ffff00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90%</a:t>
                      </a:r>
                      <a:endParaRPr lang="ko-KR" altLang="en-US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67666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결과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  <a:effectLst/>
                        </a:rPr>
                        <a:t>전장 출동처리 미흡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lum bright="-71000"/>
            <a:extLst>
              <a:ext uri="783A4284-B454-46f5-B8C8-42B5039CE256">
                <hp:hncPhoto xmlns:hp="http://schemas.haansoft.com/office/presentation/8.0">
                  <hd:imgLayer xmlns:hd="http://schemas.haansoft.com/office/drawingml/8.0" r:embed="rId2">
                    <hd:imgEffect xmlns:hd="http://schemas.haansoft.com/office/drawingml/8.0">
                      <hd:artEffectSharpenSoften amount="25000"/>
                    </hd:imgEffect>
                  </hd:imgLayer>
                </hp:hncPhoto>
              </a:ext>
            </a:extLst>
          </a:blip>
          <a:stretch>
            <a:fillRect/>
          </a:stretch>
        </p:blipFill>
        <p:spPr>
          <a:xfrm>
            <a:off x="-159911" y="-100811"/>
            <a:ext cx="12351911" cy="7059623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scene3d>
            <a:camera prst="orthographicFront"/>
            <a:lightRig rig="threePt" dir="t"/>
          </a:scene3d>
          <a:sp3d/>
        </p:spPr>
      </p:pic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70547" y="2765108"/>
          <a:ext cx="11050906" cy="2941242"/>
        </p:xfrm>
        <a:graphic>
          <a:graphicData uri="http://schemas.openxmlformats.org/drawingml/2006/table">
            <a:tbl>
              <a:tblPr firstRow="1" bandRow="1">
                <a:effectLst>
                  <a:glow rad="127000">
                    <a:srgbClr val="ffd5c2">
                      <a:alpha val="50000"/>
                    </a:srgbClr>
                  </a:glow>
                </a:effectLst>
                <a:tableStyle styleId="{01A66EDD-3DAB-4C5B-A090-DC80EC1FD486}" styleName="Normal Style 1 - Accent 1">
                  <a:wholeTbl>
                    <a:tcTxStyle>
                      <a:fontRef idx="minor">
                        <a:prstClr val="black"/>
                      </a:fontRef>
                      <a:schemeClr val="dk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l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l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l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l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l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lt1"/>
                            </a:solidFill>
                          </a:ln>
                        </a:insideV>
                      </a:tcBdr>
                      <a:fill>
                        <a:solidFill>
                          <a:schemeClr val="accent1">
                            <a:lum val="90000"/>
                          </a:schemeClr>
                        </a:solidFill>
                      </a:fill>
                    </a:tcStyle>
                  </a:wholeTbl>
                  <a:band1H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H>
                  <a:band2H>
                    <a:tcTxStyle/>
                    <a:tcStyle>
                      <a:tcBdr/>
                    </a:tcStyle>
                  </a:band2H>
                  <a:band1V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V>
                  <a:band2V>
                    <a:tcTxStyle/>
                    <a:tcStyle>
                      <a:tcBdr/>
                    </a:tcStyle>
                  </a:band2V>
                  <a:la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lastCol>
                  <a:fir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firstCol>
                  <a:la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top>
                          <a:ln w="38100" cmpd="sng">
                            <a:solidFill>
                              <a:schemeClr val="lt1"/>
                            </a:solidFill>
                          </a:ln>
                        </a:top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lastRow>
                  <a:fir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bottom>
                          <a:ln w="38100" cmpd="sng">
                            <a:solidFill>
                              <a:schemeClr val="lt1"/>
                            </a:solidFill>
                          </a:ln>
                        </a:bottom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firstRow>
                </a:tableStyle>
              </a:tblPr>
              <a:tblGrid>
                <a:gridCol w="1478280"/>
                <a:gridCol w="1687830"/>
                <a:gridCol w="179833"/>
                <a:gridCol w="6179056"/>
                <a:gridCol w="1525906"/>
              </a:tblGrid>
              <a:tr h="903591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6</a:t>
                      </a:r>
                      <a:r>
                        <a:rPr lang="ko-KR" altLang="en-US" b="0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주차</a:t>
                      </a:r>
                      <a:endParaRPr lang="ko-KR" altLang="en-US" b="0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878787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78787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계획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78787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몬스터 움직임 구현 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---&gt;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rgbClr val="ffff00"/>
                          </a:solidFill>
                        </a:rPr>
                        <a:t>아이템 구현으로 변경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(4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주차와 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주차 일부 계획 변경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78787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78787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0%</a:t>
                      </a:r>
                      <a:endParaRPr lang="en-US" altLang="ko-KR" b="0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878787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78787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67921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7</a:t>
                      </a:r>
                      <a:r>
                        <a:rPr lang="ko-KR" altLang="en-US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주차</a:t>
                      </a:r>
                      <a:endParaRPr lang="ko-KR" altLang="en-US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878787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계획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보스방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보스 공격패턴 구현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0%</a:t>
                      </a:r>
                      <a:endParaRPr lang="en-US" altLang="ko-KR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878787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67921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8</a:t>
                      </a:r>
                      <a:r>
                        <a:rPr lang="ko-KR" altLang="en-US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주차</a:t>
                      </a:r>
                      <a:endParaRPr lang="ko-KR" altLang="en-US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878787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계획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이동할 수 있는 문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클리어 화면 구현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0%</a:t>
                      </a:r>
                      <a:endParaRPr lang="en-US" altLang="ko-KR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878787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67921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9</a:t>
                      </a:r>
                      <a:r>
                        <a:rPr lang="ko-KR" altLang="en-US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주차</a:t>
                      </a:r>
                      <a:endParaRPr lang="ko-KR" altLang="en-US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878787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계획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전체적인 코드 재검토 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0%</a:t>
                      </a:r>
                      <a:endParaRPr lang="en-US" altLang="ko-KR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878787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bfa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직사각형 5"/>
          <p:cNvSpPr>
            <a:spLocks noGrp="1"/>
          </p:cNvSpPr>
          <p:nvPr>
            <p:ph type="title" idx="0"/>
          </p:nvPr>
        </p:nvSpPr>
        <p:spPr>
          <a:xfrm>
            <a:off x="609600" y="304000"/>
            <a:ext cx="10972799" cy="863498"/>
          </a:xfrm>
          <a:noFill/>
        </p:spPr>
        <p:txBody>
          <a:bodyPr/>
          <a:p>
            <a:pPr lvl="0" algn="ctr">
              <a:defRPr/>
            </a:pPr>
            <a:r>
              <a:rPr lang="ko-KR" altLang="en-US" sz="4600">
                <a:effectLst>
                  <a:glow rad="321266">
                    <a:srgbClr val="ff0000">
                      <a:alpha val="10000"/>
                    </a:srgbClr>
                  </a:glow>
                </a:effectLst>
              </a:rPr>
              <a:t>개발 예정</a:t>
            </a:r>
            <a:endParaRPr lang="ko-KR" altLang="en-US" sz="4600"/>
          </a:p>
        </p:txBody>
      </p:sp>
      <p:sp>
        <p:nvSpPr>
          <p:cNvPr id="7" name="직사각형 6"/>
          <p:cNvSpPr>
            <a:spLocks noGrp="1"/>
          </p:cNvSpPr>
          <p:nvPr/>
        </p:nvSpPr>
        <p:spPr>
          <a:xfrm>
            <a:off x="5369719" y="869842"/>
            <a:ext cx="7567611" cy="97065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 rad="321266">
                    <a:srgbClr val="ff0000">
                      <a:alpha val="10000"/>
                    </a:srgbClr>
                  </a:glow>
                </a:effectLst>
                <a:latin typeface="+mj-lt"/>
                <a:ea typeface="+mj-ea"/>
                <a:cs typeface="+mj-cs"/>
              </a:rPr>
              <a:t>전체 대비 대략 </a:t>
            </a: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 rad="321266">
                    <a:srgbClr val="ff0000">
                      <a:alpha val="10000"/>
                    </a:srgbClr>
                  </a:glow>
                </a:effectLst>
                <a:latin typeface="+mj-lt"/>
                <a:ea typeface="+mj-ea"/>
                <a:cs typeface="+mj-cs"/>
              </a:rPr>
              <a:t>:35%</a:t>
            </a:r>
            <a:endPara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<a:solidFill>
                <a:schemeClr val="bg2">
                  <a:lumMod val="40000"/>
                  <a:lumOff val="6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0" y="1303067"/>
            <a:ext cx="5358631" cy="1241544"/>
          </a:xfrm>
          <a:prstGeom prst="roundRect">
            <a:avLst>
              <a:gd name="adj" fmla="val 16667"/>
            </a:avLst>
          </a:prstGeom>
          <a:solidFill>
            <a:srgbClr val="9f3434"/>
          </a:solidFill>
          <a:effectLst>
            <a:softEdge rad="127000"/>
          </a:effectLst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0" indent="0">
              <a:buNone/>
              <a:defRPr/>
            </a:pPr>
            <a:r>
              <a:rPr lang="en-US" altLang="ko-KR"/>
              <a:t>1</a:t>
            </a:r>
            <a:r>
              <a:rPr lang="ko-KR" altLang="en-US"/>
              <a:t>주차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+</a:t>
            </a:r>
            <a:r>
              <a:rPr lang="ko-KR" altLang="en-US"/>
              <a:t> 미니맵 구현 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4</a:t>
            </a:r>
            <a:r>
              <a:rPr lang="ko-KR" altLang="en-US"/>
              <a:t>주차</a:t>
            </a:r>
            <a:r>
              <a:rPr lang="en-US" altLang="ko-KR"/>
              <a:t>:</a:t>
            </a:r>
            <a:r>
              <a:rPr lang="ko-KR" altLang="en-US"/>
              <a:t> 아이템 구현</a:t>
            </a:r>
            <a:r>
              <a:rPr lang="en-US" altLang="ko-KR"/>
              <a:t>--&gt;</a:t>
            </a:r>
            <a:r>
              <a:rPr lang="ko-KR" altLang="en-US"/>
              <a:t>스킬 모션 구현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5</a:t>
            </a:r>
            <a:r>
              <a:rPr lang="ko-KR" altLang="en-US"/>
              <a:t>주차</a:t>
            </a:r>
            <a:r>
              <a:rPr lang="en-US" altLang="ko-KR"/>
              <a:t>:</a:t>
            </a:r>
            <a:r>
              <a:rPr lang="ko-KR" altLang="en-US"/>
              <a:t>  </a:t>
            </a:r>
            <a:r>
              <a:rPr lang="en-US" altLang="ko-KR"/>
              <a:t>+</a:t>
            </a:r>
            <a:r>
              <a:rPr lang="ko-KR" altLang="en-US"/>
              <a:t>몬스터 움직임 구현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6</a:t>
            </a:r>
            <a:r>
              <a:rPr lang="ko-KR" altLang="en-US"/>
              <a:t>주차</a:t>
            </a:r>
            <a:r>
              <a:rPr lang="en-US" altLang="ko-KR"/>
              <a:t>:</a:t>
            </a:r>
            <a:r>
              <a:rPr lang="ko-KR" altLang="en-US"/>
              <a:t> 몬스터 움직임 구현</a:t>
            </a:r>
            <a:r>
              <a:rPr lang="en-US" altLang="ko-KR"/>
              <a:t>---&gt;</a:t>
            </a:r>
            <a:r>
              <a:rPr lang="ko-KR" altLang="en-US"/>
              <a:t> 아이템 구현</a:t>
            </a:r>
            <a:endParaRPr lang="ko-KR" altLang="en-US"/>
          </a:p>
        </p:txBody>
      </p:sp>
      <p:sp>
        <p:nvSpPr>
          <p:cNvPr id="9" name="직사각형 8"/>
          <p:cNvSpPr>
            <a:spLocks noGrp="1"/>
          </p:cNvSpPr>
          <p:nvPr/>
        </p:nvSpPr>
        <p:spPr>
          <a:xfrm>
            <a:off x="931478" y="735749"/>
            <a:ext cx="3495675" cy="71109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300" b="0" i="0" u="none" strike="noStrike" kern="1200" cap="none" spc="0" normalizeH="0" baseline="0" mc:Ignorable="hp" hp:hslEmbossed="0">
                <a:solidFill>
                  <a:srgbClr val="ffc299"/>
                </a:solidFill>
                <a:effectLst>
                  <a:glow rad="321266">
                    <a:srgbClr val="ff0000">
                      <a:alpha val="10000"/>
                    </a:srgbClr>
                  </a:glow>
                </a:effectLst>
                <a:latin typeface="+mj-lt"/>
                <a:ea typeface="+mj-ea"/>
                <a:cs typeface="+mj-cs"/>
              </a:rPr>
              <a:t>*</a:t>
            </a:r>
            <a:r>
              <a:rPr xmlns:mc="http://schemas.openxmlformats.org/markup-compatibility/2006" xmlns:hp="http://schemas.haansoft.com/office/presentation/8.0" kumimoji="0" lang="ko-KR" altLang="en-US" sz="3300" b="0" i="0" u="none" strike="noStrike" kern="1200" cap="none" spc="0" normalizeH="0" baseline="0" mc:Ignorable="hp" hp:hslEmbossed="0">
                <a:solidFill>
                  <a:srgbClr val="ffc299"/>
                </a:solidFill>
                <a:effectLst>
                  <a:glow rad="321266">
                    <a:srgbClr val="ff0000">
                      <a:alpha val="10000"/>
                    </a:srgbClr>
                  </a:glow>
                </a:effectLst>
                <a:latin typeface="+mj-lt"/>
                <a:ea typeface="+mj-ea"/>
                <a:cs typeface="+mj-cs"/>
              </a:rPr>
              <a:t>일정 변경 사항</a:t>
            </a:r>
            <a:r>
              <a:rPr xmlns:mc="http://schemas.openxmlformats.org/markup-compatibility/2006" xmlns:hp="http://schemas.haansoft.com/office/presentation/8.0" kumimoji="0" lang="en-US" altLang="ko-KR" sz="3300" b="0" i="0" u="none" strike="noStrike" kern="1200" cap="none" spc="0" normalizeH="0" baseline="0" mc:Ignorable="hp" hp:hslEmbossed="0">
                <a:solidFill>
                  <a:srgbClr val="ffc299"/>
                </a:solidFill>
                <a:effectLst>
                  <a:glow rad="321266">
                    <a:srgbClr val="ff0000">
                      <a:alpha val="10000"/>
                    </a:srgbClr>
                  </a:glow>
                </a:effectLst>
                <a:latin typeface="+mj-lt"/>
                <a:ea typeface="+mj-ea"/>
                <a:cs typeface="+mj-cs"/>
              </a:rPr>
              <a:t>*</a:t>
            </a:r>
            <a:endParaRPr xmlns:mc="http://schemas.openxmlformats.org/markup-compatibility/2006" xmlns:hp="http://schemas.haansoft.com/office/presentation/8.0" kumimoji="0" lang="en-US" altLang="ko-KR" sz="3300" b="0" i="0" u="none" strike="noStrike" kern="1200" cap="none" spc="0" normalizeH="0" baseline="0" mc:Ignorable="hp" hp:hslEmbossed="0">
              <a:solidFill>
                <a:srgbClr val="ffc299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86922132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lum bright="-71000"/>
            <a:extLst>
              <a:ext uri="783A4284-B454-46f5-B8C8-42B5039CE256">
                <hp:hncPhoto xmlns:hp="http://schemas.haansoft.com/office/presentation/8.0">
                  <hd:imgLayer xmlns:hd="http://schemas.haansoft.com/office/drawingml/8.0" r:embed="rId2">
                    <hd:imgEffect xmlns:hd="http://schemas.haansoft.com/office/drawingml/8.0">
                      <hd:artEffectSharpenSoften amount="25000"/>
                    </hd:imgEffect>
                  </hd:imgLayer>
                </hp:hncPhoto>
              </a:ext>
            </a:extLst>
          </a:blip>
          <a:stretch>
            <a:fillRect/>
          </a:stretch>
        </p:blipFill>
        <p:spPr>
          <a:xfrm>
            <a:off x="-159910" y="-100811"/>
            <a:ext cx="12351911" cy="7059623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scene3d>
            <a:camera prst="orthographicFront"/>
            <a:lightRig rig="threePt" dir="t"/>
          </a:scene3d>
          <a:sp3d/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50031" y="258960"/>
            <a:ext cx="11406187" cy="635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33220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동굴">
  <a:themeElements>
    <a:clrScheme name="동굴">
      <a:dk1>
        <a:srgbClr val="000000"/>
      </a:dk1>
      <a:lt1>
        <a:srgbClr val="ffffff"/>
      </a:lt1>
      <a:dk2>
        <a:srgbClr val="333333"/>
      </a:dk2>
      <a:lt2>
        <a:srgbClr val="daab00"/>
      </a:lt2>
      <a:accent1>
        <a:srgbClr val="49461b"/>
      </a:accent1>
      <a:accent2>
        <a:srgbClr val="a27f00"/>
      </a:accent2>
      <a:accent3>
        <a:srgbClr val="f9e03b"/>
      </a:accent3>
      <a:accent4>
        <a:srgbClr val="684100"/>
      </a:accent4>
      <a:accent5>
        <a:srgbClr val="ffae0d"/>
      </a:accent5>
      <a:accent6>
        <a:srgbClr val="8d8a00"/>
      </a:accent6>
      <a:hlink>
        <a:srgbClr val="4a45ff"/>
      </a:hlink>
      <a:folHlink>
        <a:srgbClr val="be27bb"/>
      </a:folHlink>
    </a:clrScheme>
    <a:fontScheme name="동굴">
      <a:majorFont>
        <a:latin typeface="Tahoma"/>
        <a:ea typeface=""/>
        <a:cs typeface=""/>
        <a:font script="Jpan" typeface="MS PGothic"/>
        <a:font script="Hang" typeface="HY태백B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Tahoma"/>
        <a:ea typeface=""/>
        <a:cs typeface="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동굴">
      <a:fillStyleLst>
        <a:solidFill>
          <a:schemeClr val="phClr"/>
        </a:solidFill>
        <a:gradFill rotWithShape="1">
          <a:gsLst>
            <a:gs pos="0">
              <a:schemeClr val="phClr">
                <a:alpha val="9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25400" cap="flat" cmpd="sng" algn="ctr">
          <a:solidFill>
            <a:schemeClr val="phClr">
              <a:tint val="40000"/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>
              <a:tint val="80000"/>
              <a:hueMod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43</ep:Words>
  <ep:PresentationFormat>화면 슬라이드 쇼(4:3)</ep:PresentationFormat>
  <ep:Paragraphs>15</ep:Paragraphs>
  <ep:Slides>4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ep:HeadingPairs>
  <ep:TitlesOfParts>
    <vt:vector size="5" baseType="lpstr">
      <vt:lpstr>동굴</vt:lpstr>
      <vt:lpstr>슬라이드 1</vt:lpstr>
      <vt:lpstr>개발 진행률</vt:lpstr>
      <vt:lpstr>개발 예정</vt:lpstr>
      <vt:lpstr>슬라이드 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2025-09-26T08:24:53.250</dcterms:created>
  <dc:creator>PC</dc:creator>
  <cp:lastModifiedBy>PC</cp:lastModifiedBy>
  <dcterms:modified xsi:type="dcterms:W3CDTF">2025-11-12T14:35:22.647</dcterms:modified>
  <cp:revision>67</cp:revision>
  <dc:title>공주님 구하기</dc:title>
  <cp:version>12.0.0.4204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